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c865952164fa5" /><Relationship Type="http://schemas.openxmlformats.org/officeDocument/2006/relationships/extended-properties" Target="/docProps/app.xml" Id="R1d7d58e260d0472d" /><Relationship Type="http://schemas.openxmlformats.org/officeDocument/2006/relationships/officeDocument" Target="/ppt/presentation.xml" Id="R0b5a0fdc64bc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dc37e82b4416b"/>
  </p:sldMasterIdLst>
  <p:notesMasterIdLst>
    <p:notesMasterId xmlns:r="http://schemas.openxmlformats.org/officeDocument/2006/relationships" r:id="Rcdf815df0d0849f2"/>
  </p:notesMasterIdLst>
  <p:sldIdLst>
    <p:sldId xmlns:r="http://schemas.openxmlformats.org/officeDocument/2006/relationships" id="256" r:id="R019ca6c186144c56"/>
    <p:sldId xmlns:r="http://schemas.openxmlformats.org/officeDocument/2006/relationships" id="257" r:id="Rf8fa72514c48475d"/>
    <p:sldId xmlns:r="http://schemas.openxmlformats.org/officeDocument/2006/relationships" id="258" r:id="R7862b20912184127"/>
    <p:sldId xmlns:r="http://schemas.openxmlformats.org/officeDocument/2006/relationships" id="259" r:id="R921f0c6af4b040a7"/>
    <p:sldId xmlns:r="http://schemas.openxmlformats.org/officeDocument/2006/relationships" id="260" r:id="R3987772e22dc4337"/>
    <p:sldId xmlns:r="http://schemas.openxmlformats.org/officeDocument/2006/relationships" id="261" r:id="R8499fb2857184338"/>
    <p:sldId xmlns:r="http://schemas.openxmlformats.org/officeDocument/2006/relationships" id="262" r:id="R76751509c6184e72"/>
    <p:sldId xmlns:r="http://schemas.openxmlformats.org/officeDocument/2006/relationships" id="263" r:id="R4a4ae239be104a82"/>
    <p:sldId xmlns:r="http://schemas.openxmlformats.org/officeDocument/2006/relationships" id="264" r:id="Rbe8650b2182c4c85"/>
    <p:sldId xmlns:r="http://schemas.openxmlformats.org/officeDocument/2006/relationships" id="265" r:id="Rfc6d9ee6c1734033"/>
    <p:sldId xmlns:r="http://schemas.openxmlformats.org/officeDocument/2006/relationships" id="266" r:id="R869182abcae34d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83775da1a402f" /><Relationship Type="http://schemas.openxmlformats.org/officeDocument/2006/relationships/slideMaster" Target="/ppt/slideMasters/slideMaster1.xml" Id="R233dc37e82b4416b" /><Relationship Type="http://schemas.openxmlformats.org/officeDocument/2006/relationships/notesMaster" Target="/ppt/notesMasters/notesMaster1.xml" Id="Rcdf815df0d0849f2" /><Relationship Type="http://schemas.openxmlformats.org/officeDocument/2006/relationships/presProps" Target="/ppt/presProps.xml" Id="Ra62895570c3943b6" /><Relationship Type="http://schemas.openxmlformats.org/officeDocument/2006/relationships/tableStyles" Target="/ppt/tableStyles.xml" Id="R904bac34a6784e7c" /><Relationship Type="http://schemas.openxmlformats.org/officeDocument/2006/relationships/slide" Target="/ppt/slides/slide1.xml" Id="R019ca6c186144c56" /><Relationship Type="http://schemas.openxmlformats.org/officeDocument/2006/relationships/slide" Target="/ppt/slides/slide2.xml" Id="Rf8fa72514c48475d" /><Relationship Type="http://schemas.openxmlformats.org/officeDocument/2006/relationships/slide" Target="/ppt/slides/slide3.xml" Id="R7862b20912184127" /><Relationship Type="http://schemas.openxmlformats.org/officeDocument/2006/relationships/slide" Target="/ppt/slides/slide4.xml" Id="R921f0c6af4b040a7" /><Relationship Type="http://schemas.openxmlformats.org/officeDocument/2006/relationships/slide" Target="/ppt/slides/slide5.xml" Id="R3987772e22dc4337" /><Relationship Type="http://schemas.openxmlformats.org/officeDocument/2006/relationships/slide" Target="/ppt/slides/slide6.xml" Id="R8499fb2857184338" /><Relationship Type="http://schemas.openxmlformats.org/officeDocument/2006/relationships/slide" Target="/ppt/slides/slide7.xml" Id="R76751509c6184e72" /><Relationship Type="http://schemas.openxmlformats.org/officeDocument/2006/relationships/slide" Target="/ppt/slides/slide8.xml" Id="R4a4ae239be104a82" /><Relationship Type="http://schemas.openxmlformats.org/officeDocument/2006/relationships/slide" Target="/ppt/slides/slide9.xml" Id="Rbe8650b2182c4c85" /><Relationship Type="http://schemas.openxmlformats.org/officeDocument/2006/relationships/slide" Target="/ppt/slides/slide10.xml" Id="Rfc6d9ee6c1734033" /><Relationship Type="http://schemas.openxmlformats.org/officeDocument/2006/relationships/slide" Target="/ppt/slides/slide11.xml" Id="R869182abcae3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092909e374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a82d805774f77" /><Relationship Type="http://schemas.openxmlformats.org/officeDocument/2006/relationships/notesMaster" Target="/ppt/notesMasters/notesMaster1.xml" Id="R96f655ec81df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7dc6b679f347b7" /><Relationship Type="http://schemas.openxmlformats.org/officeDocument/2006/relationships/notesMaster" Target="/ppt/notesMasters/notesMaster1.xml" Id="R084465875bb84e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7610eb94804054" /><Relationship Type="http://schemas.openxmlformats.org/officeDocument/2006/relationships/notesMaster" Target="/ppt/notesMasters/notesMaster1.xml" Id="R869093aac58240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8a778606b4cfa" /><Relationship Type="http://schemas.openxmlformats.org/officeDocument/2006/relationships/notesMaster" Target="/ppt/notesMasters/notesMaster1.xml" Id="Rf49c62bc148c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0c5a688f434d25" /><Relationship Type="http://schemas.openxmlformats.org/officeDocument/2006/relationships/notesMaster" Target="/ppt/notesMasters/notesMaster1.xml" Id="R9977c22c94b54d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8acb097d34355" /><Relationship Type="http://schemas.openxmlformats.org/officeDocument/2006/relationships/notesMaster" Target="/ppt/notesMasters/notesMaster1.xml" Id="R3a3bc1b0d85843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ebc02cce4455c" /><Relationship Type="http://schemas.openxmlformats.org/officeDocument/2006/relationships/notesMaster" Target="/ppt/notesMasters/notesMaster1.xml" Id="R986f1dc6df6444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9daa903dc4e0c" /><Relationship Type="http://schemas.openxmlformats.org/officeDocument/2006/relationships/notesMaster" Target="/ppt/notesMasters/notesMaster1.xml" Id="R5a1585c513d9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2f2e84f4a34c9e" /><Relationship Type="http://schemas.openxmlformats.org/officeDocument/2006/relationships/notesMaster" Target="/ppt/notesMasters/notesMaster1.xml" Id="R658c692ea2b241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69945e07544145" /><Relationship Type="http://schemas.openxmlformats.org/officeDocument/2006/relationships/notesMaster" Target="/ppt/notesMasters/notesMaster1.xml" Id="R9dc5ae832f9c4c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c814c29e9c4c41" /><Relationship Type="http://schemas.openxmlformats.org/officeDocument/2006/relationships/notesMaster" Target="/ppt/notesMasters/notesMaster1.xml" Id="R48cc1a27e2b4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1f3832e0145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d136037cc48d3" /><Relationship Type="http://schemas.openxmlformats.org/officeDocument/2006/relationships/slideLayout" Target="/ppt/slideLayouts/slideLayout1.xml" Id="R43044ab3f0d142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044ab3f0d142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7fd0dd1464e91" /><Relationship Type="http://schemas.openxmlformats.org/officeDocument/2006/relationships/image" Target="/ppt/media/image.png" Id="Ra14024d9a4b54683" /><Relationship Type="http://schemas.openxmlformats.org/officeDocument/2006/relationships/notesSlide" Target="/ppt/notesSlides/notesSlide1.xml" Id="R2bf22ec6744d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31c484a6f4fe5" /><Relationship Type="http://schemas.openxmlformats.org/officeDocument/2006/relationships/notesSlide" Target="/ppt/notesSlides/notesSlide2.xml" Id="R095f1864acf54f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bf229d6334db9" /><Relationship Type="http://schemas.openxmlformats.org/officeDocument/2006/relationships/notesSlide" Target="/ppt/notesSlides/notesSlide3.xml" Id="Rd58b2bf0e56f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0c6c443424407" /><Relationship Type="http://schemas.openxmlformats.org/officeDocument/2006/relationships/image" Target="/ppt/media/image2.png" Id="Rcddba30ec48f4b4a" /><Relationship Type="http://schemas.openxmlformats.org/officeDocument/2006/relationships/notesSlide" Target="/ppt/notesSlides/notesSlide4.xml" Id="R5e3e5268c7e1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2fe6a642402d" /><Relationship Type="http://schemas.openxmlformats.org/officeDocument/2006/relationships/image" Target="/ppt/media/image3.png" Id="R035bb74f470c4e92" /><Relationship Type="http://schemas.openxmlformats.org/officeDocument/2006/relationships/notesSlide" Target="/ppt/notesSlides/notesSlide5.xml" Id="R4d7afd5e6db9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6aa44f9e84b72" /><Relationship Type="http://schemas.openxmlformats.org/officeDocument/2006/relationships/notesSlide" Target="/ppt/notesSlides/notesSlide6.xml" Id="Rd93733dad3cf40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35a244beb49c8" /><Relationship Type="http://schemas.openxmlformats.org/officeDocument/2006/relationships/image" Target="/ppt/media/image4.png" Id="R2e1d7d846686427c" /><Relationship Type="http://schemas.openxmlformats.org/officeDocument/2006/relationships/notesSlide" Target="/ppt/notesSlides/notesSlide7.xml" Id="R87181a99756b4c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5470d82249ad" /><Relationship Type="http://schemas.openxmlformats.org/officeDocument/2006/relationships/notesSlide" Target="/ppt/notesSlides/notesSlide8.xml" Id="R63deef9d0b60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79f86d52749c5" /><Relationship Type="http://schemas.openxmlformats.org/officeDocument/2006/relationships/notesSlide" Target="/ppt/notesSlides/notesSlide9.xml" Id="R94131f25f71046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aa649e6294000" /><Relationship Type="http://schemas.openxmlformats.org/officeDocument/2006/relationships/notesSlide" Target="/ppt/notesSlides/notesSlide10.xml" Id="Rf248528ef9454a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55352fd2549b9" /><Relationship Type="http://schemas.openxmlformats.org/officeDocument/2006/relationships/notesSlide" Target="/ppt/notesSlides/notesSlide11.xml" Id="R56e20898c9eb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A0BD8-7162-4325-9561-5FA1438B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81A3C-28F6-4BD6-AFB8-1EE640F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PRIVATE INVESTOR BRIEFING ·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2217-9FA0-412F-8E3E-911C2C7E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B132-FB63-46EF-8410-3CC35ED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The AI-native research OS</a:t>
            </a:r>
          </a:p>
          <a:p xmlns:a="http://schemas.openxmlformats.org/drawingml/2006/main">
            <a:pPr algn="l">
              <a:def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for systematic investors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30373-BA4D-4C6A-BD97-F4DB9B32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Turn market noise into testable, risk-aware decisions—inside one local-first workflow.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71500" y="46767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A683-A222-4979-8181-F5E76141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DISCOVER  →  TEST  → 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BCD3A-EA8B-4F2D-A75A-70FF0FC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Built for research. Designed to earn trust before capital is deployed.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10E18-E79E-4EDA-B066-27928B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85800"/>
            <a:ext cx="5543550" cy="535305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024d9a4b54683"/>
          <a:srcRect xmlns:a="http://schemas.openxmlformats.org/drawingml/2006/main" l="16174" t="0" r="161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42950"/>
            <a:ext cx="5429250" cy="5238750"/>
          </a:xfrm>
          <a:prstGeom xmlns:a="http://schemas.openxmlformats.org/drawingml/2006/main" prst="roundRect">
            <a:avLst>
              <a:gd name="adj" fmla="val 21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14B12-9D6C-424B-B5D9-39B3D22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Software for research and education;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545247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A3C3C-1C72-4FAE-A40F-6D2F3593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1EFFF-67D2-40E6-B5BC-10D0784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6A00A-1E6A-4BCF-8FD9-0181936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BF88E-CC5C-455B-8643-272B6D12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bottleneck is not another AI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259CE-D3AA-4456-A522-6BB7CF3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It is a repeatable chain of evidence from signal to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E014-9A5A-49BC-9EC5-AD83DE69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0BAF3-8894-498D-A126-43443266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74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80D1E-9E76-48B7-BA9C-B1727CC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Research is fragmented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40A18-2318-48C7-9491-1E60421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Market data, screening, news, forecasting and backtests live in separate tools and contexts.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6A1E1-8946-4166-92D2-7F0BE3E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51C13-9352-41B1-AEFD-4AF8126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74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8555-3148-42EC-805C-9F9E9C7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Narratives outrun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D0664-79F1-421B-A02E-798E277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AI can sound confident while provenance, timing, costs and regime sensitivity remain hidden.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51069-1DC8-421F-999B-E914B3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0382F-B301-4FA2-BEB4-1A2EE08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574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C1B91-A6C2-4ACD-8730-1707990A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Risk arrives too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A3DC1-1AB3-4636-98B1-AF43AD2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43375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Most workflows optimize for upside first—then bolt on drawdown controls after the fact.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C1290-4674-4C87-8298-5C8B8037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Investment 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F01F8-14CD-439D-888C-5CCE573D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winning product will make quantitative rigor feel like a daily operating habit—not a specialist project.</a:t>
            </a:r>
          </a:p>
        </p:txBody>
      </p:sp>
    </p:spTree>
    <p:extLst>
      <p:ext uri="{BB962C8B-B14F-4D97-AF65-F5344CB8AC3E}">
        <p14:creationId xmlns:p14="http://schemas.microsoft.com/office/powerpoint/2010/main" val="956544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70DC7-5F03-4FED-BDA1-06100F2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387BB-780E-44D4-8C4E-F7CE0134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PRODUCT THESIS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E6766-791D-44AD-B800-F6FEF4A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899C9-8E4F-4D42-81C1-C8BA011B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One closed loop from market noise to strategy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D1495-693B-4E7D-8FF5-92A03E3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Every module feeds a shared research history, so the system improves through use.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952500" y="34290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473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CDD0D-6906-491D-96B1-96D33262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DA89B-6E4B-4AE8-A34F-F080850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147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D98E8-D162-4C8B-9173-248E5299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7E1DC-EDA0-4566-B438-388F7F85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Multi-market overview</a:t>
            </a:r>
          </a:p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Opportunity scanner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C012A-A718-4765-BD13-5DC4413E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94572-15B0-4D0C-B4DA-7ED548C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47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820DF-0435-4B62-9EBE-FFAA2826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E4588-E085-49B4-814A-F06F5E1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338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Daily news synthesis</a:t>
            </a:r>
          </a:p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Agentic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8B5EF-4AB9-47DD-B7F7-B3A31C9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C50DC-1A0A-48E5-9ACE-D17B5AB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3147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B4C6B-ADAA-48D2-B370-9CDC42AA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3D417-8339-4870-9461-DE3E667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338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Unified baselines</a:t>
            </a:r>
          </a:p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Historical regimes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8B123-A04C-4771-B1A5-AB8E20B1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0B195-4210-4A38-8220-8B455B14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3147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0DEB1-1E56-4806-B7BD-B6CD1C4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86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SIMULATE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59C9A-537F-46CF-90CC-D4E34A7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338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Costs, timing, drawdown</a:t>
            </a:r>
          </a:p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Cash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10023-F6BE-43B3-AEC0-8EE2F66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FAF2C-1641-48D9-B719-2166B9B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3147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AD623-07FD-4544-A2C5-424753D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86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75DF1-9F5B-4A2F-B35E-C742364C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338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Forward outcomes</a:t>
            </a:r>
          </a:p>
          <a:p xmlns:a="http://schemas.openxmlformats.org/drawingml/2006/main">
            <a:pPr algn="ctr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Quality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4778F-EDFA-430E-9BFC-F8D5481C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7848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5088FB-B2AE-41BF-BA74-0E082A8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34025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Compounding asset: an auditable library of signals, assumptions, tests and outcomes.</a:t>
            </a:r>
          </a:p>
        </p:txBody>
      </p:sp>
    </p:spTree>
    <p:extLst>
      <p:ext uri="{BB962C8B-B14F-4D97-AF65-F5344CB8AC3E}">
        <p14:creationId xmlns:p14="http://schemas.microsoft.com/office/powerpoint/2010/main" val="85008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27196-919A-4EDD-A363-8CD2A36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DE1F5-F99D-482F-B7EA-319DA93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PRODUCT PROOF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E9A02-747C-4864-8EAC-829B32A9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B7A26-1659-4993-93BB-7969D28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Explainable discovery—not a black-box stock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22AEF-ACA5-43E5-A4C2-5624B16E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Factor, anomaly and event signals are ranked with visible attribution and forward outcome tracking.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DFDBB-4015-43AF-860C-694AA59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7115175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ba30ec48f4b4a"/>
          <a:srcRect xmlns:a="http://schemas.openxmlformats.org/drawingml/2006/main" l="0" t="13429" r="0" b="13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66950"/>
            <a:ext cx="7000875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9FF9F-55A7-46BA-8213-7E97E2F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107FD-E5C7-49A2-B9BC-FF81FD59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288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19916-5DB4-438F-B6DC-C4F06795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AF74-2827-4D12-A53D-B63436E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Transparent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29066-EA4B-441E-95B2-98643B34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Show the score, factor contribution and reason—not just the ticker.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124DD-38D7-417D-AD3B-34902E84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C7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3D2F1-12A1-43F3-829B-F7B5210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Multi-market by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6CC7A-C387-4A7B-9417-54669D9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A-shares, Hong Kong and U.S. equities share one research surface.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6F6FA-BD5A-46B5-B9BC-D8DDA7D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69B08-1BD1-476B-9F4C-ADFD4A9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Self-validation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197FD-776E-4D55-B86D-B61E594F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2447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Recommended names can be checked against subsequent 1 / 5 / 20-day outcomes.</a:t>
            </a:r>
          </a:p>
        </p:txBody>
      </p:sp>
    </p:spTree>
    <p:extLst>
      <p:ext uri="{BB962C8B-B14F-4D97-AF65-F5344CB8AC3E}">
        <p14:creationId xmlns:p14="http://schemas.microsoft.com/office/powerpoint/2010/main" val="1734880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1B9EE-2CC9-482C-AE0B-E51219E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309AA-582D-4D95-BDDF-5D75A06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VALIDATION WEDGE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C57E9-1C85-4EC6-BFC3-13919877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AD3E4-6208-49CF-B967-D435AF0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Make every strategy beat a common standard of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0D804-0393-4DA4-B85A-CCF0E3C7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The default workflow compares alternatives on the same dates, capital, costs and execution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B7BC9-0223-4924-866A-07BFC4E4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4960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bb74f470c4e92"/>
          <a:srcRect xmlns:a="http://schemas.openxmlformats.org/drawingml/2006/main" l="0" t="13463" r="0" b="13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47900"/>
            <a:ext cx="638175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D0120-3F2C-47EF-935C-6751AAA0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ADB76-A012-4E5A-B531-0B4A326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SPY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DA5FD-B601-420F-81D3-3CE5374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BUY &amp; 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55A1F-E992-4056-B4FD-A27274D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The market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C53CE-1EE8-4337-9F5D-E74032F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73533-70E5-447F-AAC8-068291C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200-DAY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1EE7B-E2A2-43CA-911F-73EB6B3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SPY / 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0312A-B4C8-40A5-BA4D-BF475771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Explicit defensive rotation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8DEA1-77E0-4E86-BE02-8BE25F90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86275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A127E-EDB9-436E-B982-9A2D011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577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V0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B5844-556D-40BB-86B7-DD66B5D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DEFENSIVE MOMENTUM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619BA-CC4D-4077-8AC3-26FB9494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62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Research candidate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777F7-55E3-42D2-8DD0-3720F7F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57850"/>
            <a:ext cx="4191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E49D4-556D-44F4-BE5F-87C395C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rPr>
              <a:t>Default: trailing 5 years  ·  Optional historical stress regimes</a:t>
            </a:r>
          </a:p>
        </p:txBody>
      </p:sp>
    </p:spTree>
    <p:extLst>
      <p:ext uri="{BB962C8B-B14F-4D97-AF65-F5344CB8AC3E}">
        <p14:creationId xmlns:p14="http://schemas.microsoft.com/office/powerpoint/2010/main" val="1243085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093276-CB44-401F-B48C-88D050D4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A95A9-F49C-47FD-BD9D-D7DEB5E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RISK DISCIPLINE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B0C12-55E9-42AE-8985-C9156A93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ABE8F-2DCC-4EB1-A093-C161B745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product is built to disprove strategies before capital is deployed.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C8D41-6609-4289-B0C0-7FB03CA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Cash is a position. Drawdown is a design input. Backtests are hypotheses—not marketing.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9AFFA-7175-401F-A6BB-2F17FE6D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NO LOOK-AHEAD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29472-1DD6-4AF4-AD00-9EA2160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45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Signal at close; execution at next open.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71500" y="2847975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2E672-CB86-4503-8959-FC5E0DB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FRICTION INCLUDED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A330-F6CB-4CB6-A681-3459C4C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Shared capital, transaction costs and benchmark dates.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71500" y="3695700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C95B6-5741-4FFF-976E-68729CEE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REGIME SLICES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6BFE0-5E8A-49E6-83CA-4AFEF21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00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Evaluate behavior across crises, rebounds and sideways markets.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71500" y="4543425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F8C62-5A14-4938-87A5-EE2BE8C1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KNOWN BIASES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0B81C-05C8-48B6-BD7A-16902B50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Survivorship and data limitations are surfaced, not hidden.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71500" y="5391150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1374A-AAA2-402B-928A-1BB537F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95750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A7FD2-F686-4C2E-9562-8431220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RISK-FIRST SCORECARD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0B669-FF5D-4E7C-AEA4-E71797EB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8A1ED-E489-4E0C-81FA-14FCDC3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48B9E-238B-472F-B801-057AF01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Is upside repeatable?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F1B44-6EC7-4D66-B616-263F0D7E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1180F-EC29-48B7-9461-5AFC3C56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Drawdown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AF5E1-63FB-4492-B677-965970C4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Can the investor stay in?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B57B6-E5B8-48B2-9693-811BB41D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C7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BE6BF4-6435-47A2-A88D-2284014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8543C-3339-4BF7-9F18-4A28DCD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Does it survive assumptions?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052FC-D454-4FDC-AE01-725B58C1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FB839-63E0-45EC-A46C-BB95A13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Cash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3D0E1-232F-43A9-851E-52CC58D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14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Is defense explicit?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C52F2-1A27-4904-ADF6-DFF8DE30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Goal: stable decision quality—not a beautiful backtest.</a:t>
            </a:r>
          </a:p>
        </p:txBody>
      </p:sp>
    </p:spTree>
    <p:extLst>
      <p:ext uri="{BB962C8B-B14F-4D97-AF65-F5344CB8AC3E}">
        <p14:creationId xmlns:p14="http://schemas.microsoft.com/office/powerpoint/2010/main" val="906391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F8CAD-D005-4A9F-A104-5190162C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133B7-1546-49DE-8F44-8701B22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AI ADVANTAGE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6EE18-2C5E-4675-BB42-43AFCEF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89CF9-91DF-4469-80BD-365206D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AI accelerates synthesis. Engines guard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5F9E3-30FB-4C45-949C-C399633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Forecast uncertainty, research provenance and cached daily news keep speed from eroding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53D61-2B62-48F1-9DB9-9E6DE51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6305550" cy="3971925"/>
          </a:xfrm>
          <a:prstGeom xmlns:a="http://schemas.openxmlformats.org/drawingml/2006/main" prst="roundRect">
            <a:avLst>
              <a:gd name="adj" fmla="val 3837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d7d846686427c"/>
          <a:srcRect xmlns:a="http://schemas.openxmlformats.org/drawingml/2006/main" l="0" t="20092" r="0" b="200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38375"/>
            <a:ext cx="619125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1D71E-4012-4B4D-B1A9-DF5AF624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3521-22FD-467F-BB7A-6240933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41C63-E663-4945-A691-6A9FC5E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yfinance · akshare · ccxt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997F-CCC2-429F-B903-07ABB90A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52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84F3B-C3FB-4A08-AF89-2FFEC21C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846F4-7144-4CD5-8D97-0E28997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95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ENGINES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79FE5-57BA-4216-9B96-D7BFA8B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factors · backtests · TimesFM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D24A6-CEAE-4C33-8DD5-96E898A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290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899BC-0C0D-4660-9813-AA18CA1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F57DF-B43C-4A2B-8A66-D04B5CA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02CE0-A336-4286-B7E5-1E13DD2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6242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research · debate · news synthesis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D33C0-5FAC-4BA7-AC97-29F2E653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05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F097A-B0DA-4047-9AEC-9E8A0F7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C684F-F66B-4E74-B90F-5EEBB09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48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DD7F6-DDEC-48E8-BD93-14D1CB2C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3872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runs · outcomes ·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D66DD-81A2-4A45-8833-FFE7E24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72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rPr>
              <a:t>Two-stage news digest: fast local summary first, web enrichment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318637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39548C-7C2B-42B7-AFF3-FD721412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64F99-558E-4158-B8C2-BF62F73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AD989-2C02-4CFA-8C36-6A4FA16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66C57-BF99-48DF-8EF9-CA94132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A broad product surface—already under active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7587D-F674-4285-96CE-B0DBD104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Repository snapshot, 15 Jul 2026. Engineering activity is evidence of execution, not customer traction.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83F19-6CF5-4736-8083-2B7BA5E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288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FFEA3-701B-4451-9AD5-4C20447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2085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535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04038-132E-476C-B761-230B09E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TOTAL COMMITS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F90A8-E474-46FA-8553-2D338BA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24288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B540-D303-4E10-B386-055CA24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62225"/>
            <a:ext cx="2085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71C7D4"/>
                </a:solidFill>
                <a:latin typeface="Helvetica Neue"/>
                <a:ea typeface="Helvetica Neue"/>
                <a:cs typeface="Helvetica Neue"/>
              </a:rPr>
              <a:t>307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42CA5-EC71-4362-B9C5-3699FD3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COMMITS SINCE JUN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274B9-BAB3-4E5B-ADFC-CB782AF1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24288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BC4E1-4A6E-4217-A27F-5125E68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62225"/>
            <a:ext cx="2085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92D82-C744-44C1-9250-57FF79D4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API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325B3-3440-4436-A8CD-EAF1709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31051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43A02-A55C-4AD0-BA75-F5FC8B3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288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7D604-777C-4FD4-8F4E-131DB05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TEST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D8DA3-121E-4B04-927A-E9548059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RECENT SHIPPING CADENCE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89EBF-4825-443B-8370-570132F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42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8226D-9F44-4C6E-866F-609AFDC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JUL 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3C9CA-D152-4C5F-898F-8DA03EA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423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TimesFM volatility forecasting + automatic first-load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D792E-ECFD-48D2-80AB-71280070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42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5D616-1249-4628-A88A-9DBEAF94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JUL 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4CCAA-3D3C-4814-A658-5D5B89F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81525"/>
            <a:ext cx="423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Two-stage AI news digest with background web enrichment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D62E6-2FA9-4DA5-9020-A7EB12D9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542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37A61-97DB-4CA2-A09E-D59E04B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JUL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7848B-0E7A-43BF-8F99-9108D2ED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81625"/>
            <a:ext cx="423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Faster research analysis + daily market preload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05AD2C-86BF-4D7C-9AED-73009E0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42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E0754-3639-445C-9284-318F4700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JUL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1417F-DFB1-4AF6-B031-450EBA59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81625"/>
            <a:ext cx="423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Analytics moved into settings with R&amp;D / version visibility</a:t>
            </a:r>
          </a:p>
        </p:txBody>
      </p:sp>
    </p:spTree>
    <p:extLst>
      <p:ext uri="{BB962C8B-B14F-4D97-AF65-F5344CB8AC3E}">
        <p14:creationId xmlns:p14="http://schemas.microsoft.com/office/powerpoint/2010/main" val="322740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BB48F-C0BF-484E-BB07-62C6249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8E727-700B-428D-AB3B-C83FD575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MARKET ENTRY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DE8E-CC3E-4D01-9C8D-D1179A71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6AF01-1BC8-428C-96B5-BF749BD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Start with power users. Expand through shared research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B84D-4946-4038-B99D-8A45D4C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The wedge is personal systematic research; the platform opportunity is team-scale evidence management.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71B25-1EA8-4A3E-A87C-BC9B5A52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8FE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5A28C-5B84-45BB-9EB9-7155F9A8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1AD8A-980C-4ECA-95FB-479AF51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SELF-DIRECTED</a:t>
            </a:r>
          </a:p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SYSTEMATIC INVESTORS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00100" y="4095750"/>
            <a:ext cx="2876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EF9E9-6E30-452C-ACF2-9A9A4D6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Unified research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B1C0-AE97-44F9-92AB-E000414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B53E3-24FE-4506-BF65-E30BD87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PRO SUBSCRIPTION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DF00-AB04-4AF7-A7C9-247631E9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6C69B-C4BB-457F-B7B2-CDC1FC1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0182A-A5C1-445A-812E-79AE907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EMERGING FUND</a:t>
            </a:r>
          </a:p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MANAGERS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0" y="4095750"/>
            <a:ext cx="2876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58655-BB36-4582-9999-02BCD7DA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Repeatable strategy scorecards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F2805-6CE5-4DA9-9D82-D2EC26D1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720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64AAB-AA7E-4F05-ADD6-37A191D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96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TEAM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7FEDA-025C-4B53-909E-78C25F4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61A0F-2C9C-402C-BAE2-244B8A8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F819B-58E7-44FB-B44F-7FD7BA7F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RIA / FAMILY OFFICE</a:t>
            </a:r>
          </a:p>
          <a:p xmlns:a="http://schemas.openxmlformats.org/drawingml/2006/main">
            <a:pPr algn="l">
              <a:def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RESEARCH TEAMS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343900" y="4095750"/>
            <a:ext cx="2876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6C222-FD05-4521-AF87-7A1F3148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Auditability + private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4EC0D-F4A0-4DAA-8188-3C38637D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720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6F18E-E8B2-400A-8D82-52F39953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96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ENTERPRISE LICENSE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3D607-104F-4B04-AA1B-D9883EEE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Business model shown as a go-to-market hypothesis; no revenue or customer claims are implied.</a:t>
            </a:r>
          </a:p>
        </p:txBody>
      </p:sp>
    </p:spTree>
    <p:extLst>
      <p:ext uri="{BB962C8B-B14F-4D97-AF65-F5344CB8AC3E}">
        <p14:creationId xmlns:p14="http://schemas.microsoft.com/office/powerpoint/2010/main" val="817378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75253-887A-4C5D-898E-8738636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7F56E-A03D-46F4-A449-5A74ABE2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473D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3F064-5125-4D53-9C5A-A8D47225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52713-97C5-4B77-A4B9-7E9BD70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8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next milestone is not more features. It is stronger strategy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B076D-3894-4A7D-AB04-90A0BEC9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 focused 12-month plan turns product breadth into an investable validation and distribution engine.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066800" y="34290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473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B064C-1BA4-45D7-A309-F41B9C33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A0278-4994-4112-BEDD-82BF99A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35E99-B975-49B5-B08E-376982C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NOW → 90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4B256-35E3-4C86-910D-8FEB869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EVIDENCE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0EFF2-C532-41A0-95C2-A1D09461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Walk-forward scorecards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Regime library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Bias and cost audits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A98AD-303C-4AC6-9B66-AA23EFB8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87178-F3A5-4A43-9F15-431708E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2AB3A-3BD0-498E-BD93-DE0FC765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43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3 → 6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24EC-867D-41CA-A56C-48187B1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DESIGN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BCA16-E46D-448A-8D6E-748520C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Small investor cohort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Decision journals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Retention + trust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BBC17-543D-4C4B-AFD4-87772E5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14874-4540-4004-990E-C55CE3C6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61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F98BB-A132-40F8-8B5C-D976C74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6 → 12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6278B-0A46-4FC4-8871-E23DCCF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TEAM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80455-35A6-4A96-9CA9-0DD1AA6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481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Shared research history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Private deployment</a:t>
            </a:r>
          </a:p>
          <a:p xmlns:a="http://schemas.openxmlformats.org/drawingml/2006/main">
            <a:pPr algn="l">
              <a:def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Repeatable distribution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00393-3419-43AC-9147-C696B30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3129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C27E2-1B50-4261-9758-1E9071F9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72150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North star: evidence quality × weekly research habit × trusted capital decisions</a:t>
            </a:r>
          </a:p>
        </p:txBody>
      </p:sp>
    </p:spTree>
    <p:extLst>
      <p:ext uri="{BB962C8B-B14F-4D97-AF65-F5344CB8AC3E}">
        <p14:creationId xmlns:p14="http://schemas.microsoft.com/office/powerpoint/2010/main" val="1897932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FC5C1-7E77-4FD8-B79C-97B42BC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ALPHA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5C954-29D4-461E-9B08-B837AD37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334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product is built.</a:t>
            </a:r>
          </a:p>
          <a:p xmlns:a="http://schemas.openxmlformats.org/drawingml/2006/main">
            <a:pPr algn="l">
              <a:defRPr sz="4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The next milestone is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690F4-4F67-43E5-B5F7-168EC22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We are looking for partners who value rigorous iteration over unverified alpha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5F044-DC9A-415C-961A-42659167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3333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2EAB-799F-442F-BA8C-53B7263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8C77B"/>
                </a:solidFill>
                <a:latin typeface="Helvetica Neue"/>
                <a:ea typeface="Helvetica Neue"/>
                <a:cs typeface="Helvetica Neue"/>
              </a:rPr>
              <a:t>STRATEGIC CAPITAL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E6AF7-37AE-4435-83C9-2DC365DC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Fund the evidence engine and focused go-to-market.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2270F-A23B-48A8-A35A-D612A36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57700"/>
            <a:ext cx="3333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195AB-CE75-4D99-A523-2D09851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DESIGN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73DAE-435A-450B-B54D-7B318F6B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Stress-test the workflow with real investment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C0E99-C2FD-4435-A2E5-CDE6B276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333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2847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30A6E-2C53-4F26-8BBE-054285A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FE0C1"/>
                </a:solidFill>
                <a:latin typeface="Helvetica Neue"/>
                <a:ea typeface="Helvetica Neue"/>
                <a:cs typeface="Helvetica Neue"/>
              </a:rPr>
              <a:t>DATA + 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C18E5-139F-45CB-9BB4-E5F8DBA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7F2"/>
                </a:solidFill>
                <a:latin typeface="Helvetica Neue"/>
                <a:ea typeface="Helvetica Neue"/>
                <a:cs typeface="Helvetica Neue"/>
              </a:rPr>
              <a:t>Expand coverage and reach without diluting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0BE7B-B22E-4457-897F-5C83767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Alpha Mind · AI-driven quantitative research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568A9-3355-4EA6-9983-CBB7D43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96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9B9B1"/>
                </a:solidFill>
                <a:latin typeface="Helvetica Neue"/>
                <a:ea typeface="Helvetica Neue"/>
                <a:cs typeface="Helvetica Neue"/>
              </a:rPr>
              <a:t>Historical research only. No live performance claims.</a:t>
            </a:r>
          </a:p>
        </p:txBody>
      </p:sp>
    </p:spTree>
    <p:extLst>
      <p:ext uri="{BB962C8B-B14F-4D97-AF65-F5344CB8AC3E}">
        <p14:creationId xmlns:p14="http://schemas.microsoft.com/office/powerpoint/2010/main" val="1147487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2026-07-15T08:39:31.1060000Z</dcterms:created>
  <dcterms:modified xsi:type="dcterms:W3CDTF">2026-07-15T08:39:31.1060000Z</dcterms:modified>
</coreProperties>
</file>